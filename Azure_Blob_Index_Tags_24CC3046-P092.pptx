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9692640" y="365760"/>
            <a:ext cx="1828800" cy="1828800"/>
          </a:xfrm>
          <a:prstGeom prst="rect">
            <a:avLst/>
          </a:prstGeom>
          <a:noFill/>
          <a:ln/>
        </p:spPr>
        <p:txBody>
          <a:bodyPr wrap="square" lIns="0" tIns="0" rIns="0" bIns="0" rtlCol="0" anchor="ctr"/>
          <a:lstStyle/>
          <a:p>
            <a:pPr algn="ctr" indent="0" marL="0">
              <a:buNone/>
            </a:pPr>
            <a:r>
              <a:rPr lang="en-US" sz="14000" dirty="0">
                <a:solidFill>
                  <a:srgbClr val="065A82"/>
                </a:solidFill>
                <a:latin typeface="Cambria" pitchFamily="34" charset="0"/>
                <a:ea typeface="Cambria" pitchFamily="34" charset="-122"/>
                <a:cs typeface="Cambria" pitchFamily="34" charset="-120"/>
              </a:rPr>
              <a:t>#</a:t>
            </a:r>
            <a:endParaRPr lang="en-US" sz="14000" dirty="0"/>
          </a:p>
        </p:txBody>
      </p:sp>
      <p:sp>
        <p:nvSpPr>
          <p:cNvPr id="3" name="Text 1"/>
          <p:cNvSpPr/>
          <p:nvPr/>
        </p:nvSpPr>
        <p:spPr>
          <a:xfrm>
            <a:off x="457200" y="1188720"/>
            <a:ext cx="5029200" cy="36576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PROJECT 24CC3046-P092</a:t>
            </a:r>
            <a:endParaRPr lang="en-US" sz="1300" dirty="0"/>
          </a:p>
        </p:txBody>
      </p:sp>
      <p:sp>
        <p:nvSpPr>
          <p:cNvPr id="4" name="Text 2"/>
          <p:cNvSpPr/>
          <p:nvPr/>
        </p:nvSpPr>
        <p:spPr>
          <a:xfrm>
            <a:off x="457200" y="2377440"/>
            <a:ext cx="10515600" cy="182880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Azure Blob Index Tags for</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Large-Scale Data Organisation</a:t>
            </a:r>
            <a:endParaRPr lang="en-US" sz="4000" dirty="0"/>
          </a:p>
        </p:txBody>
      </p:sp>
      <p:sp>
        <p:nvSpPr>
          <p:cNvPr id="5" name="Text 3"/>
          <p:cNvSpPr/>
          <p:nvPr/>
        </p:nvSpPr>
        <p:spPr>
          <a:xfrm>
            <a:off x="457200" y="4160520"/>
            <a:ext cx="9601200" cy="54864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Storage  ·  Metadata-driven blob discovery at scale without full container enumeration</a:t>
            </a:r>
            <a:endParaRPr lang="en-US" sz="1600" dirty="0"/>
          </a:p>
        </p:txBody>
      </p:sp>
      <p:sp>
        <p:nvSpPr>
          <p:cNvPr id="6" name="Shape 4"/>
          <p:cNvSpPr/>
          <p:nvPr/>
        </p:nvSpPr>
        <p:spPr>
          <a:xfrm>
            <a:off x="457200" y="5212080"/>
            <a:ext cx="2103120" cy="640080"/>
          </a:xfrm>
          <a:prstGeom prst="roundRect">
            <a:avLst>
              <a:gd name="adj" fmla="val 14286"/>
            </a:avLst>
          </a:prstGeom>
          <a:solidFill>
            <a:srgbClr val="065A82"/>
          </a:solidFill>
          <a:ln/>
        </p:spPr>
      </p:sp>
      <p:sp>
        <p:nvSpPr>
          <p:cNvPr id="7" name="Text 5"/>
          <p:cNvSpPr/>
          <p:nvPr/>
        </p:nvSpPr>
        <p:spPr>
          <a:xfrm>
            <a:off x="457200" y="5285232"/>
            <a:ext cx="2103120" cy="274320"/>
          </a:xfrm>
          <a:prstGeom prst="rect">
            <a:avLst/>
          </a:prstGeom>
          <a:noFill/>
          <a:ln/>
        </p:spPr>
        <p:txBody>
          <a:bodyPr wrap="square" lIns="0" tIns="0" rIns="0" bIns="0" rtlCol="0" anchor="ctr"/>
          <a:lstStyle/>
          <a:p>
            <a:pPr algn="ctr" indent="0" marL="0">
              <a:buNone/>
            </a:pPr>
            <a:r>
              <a:rPr lang="en-US" sz="1100" b="1" dirty="0">
                <a:solidFill>
                  <a:srgbClr val="CADCFC"/>
                </a:solidFill>
              </a:rPr>
              <a:t>TEAM T092</a:t>
            </a:r>
            <a:endParaRPr lang="en-US" sz="1100" dirty="0"/>
          </a:p>
        </p:txBody>
      </p:sp>
      <p:sp>
        <p:nvSpPr>
          <p:cNvPr id="8" name="Text 6"/>
          <p:cNvSpPr/>
          <p:nvPr/>
        </p:nvSpPr>
        <p:spPr>
          <a:xfrm>
            <a:off x="457200" y="5522976"/>
            <a:ext cx="2103120" cy="274320"/>
          </a:xfrm>
          <a:prstGeom prst="rect">
            <a:avLst/>
          </a:prstGeom>
          <a:noFill/>
          <a:ln/>
        </p:spPr>
        <p:txBody>
          <a:bodyPr wrap="square" lIns="0" tIns="0" rIns="0" bIns="0" rtlCol="0" anchor="ctr"/>
          <a:lstStyle/>
          <a:p>
            <a:pPr algn="ctr" indent="0" marL="0">
              <a:buNone/>
            </a:pPr>
            <a:r>
              <a:rPr lang="en-US" sz="1200" dirty="0">
                <a:solidFill>
                  <a:srgbClr val="FFFFFF"/>
                </a:solidFill>
              </a:rPr>
              <a:t>4 students</a:t>
            </a:r>
            <a:endParaRPr lang="en-US" sz="1200" dirty="0"/>
          </a:p>
        </p:txBody>
      </p:sp>
      <p:sp>
        <p:nvSpPr>
          <p:cNvPr id="9" name="Shape 7"/>
          <p:cNvSpPr/>
          <p:nvPr/>
        </p:nvSpPr>
        <p:spPr>
          <a:xfrm>
            <a:off x="2743200" y="5212080"/>
            <a:ext cx="2103120" cy="640080"/>
          </a:xfrm>
          <a:prstGeom prst="roundRect">
            <a:avLst>
              <a:gd name="adj" fmla="val 14286"/>
            </a:avLst>
          </a:prstGeom>
          <a:solidFill>
            <a:srgbClr val="065A82"/>
          </a:solidFill>
          <a:ln/>
        </p:spPr>
      </p:sp>
      <p:sp>
        <p:nvSpPr>
          <p:cNvPr id="10" name="Text 8"/>
          <p:cNvSpPr/>
          <p:nvPr/>
        </p:nvSpPr>
        <p:spPr>
          <a:xfrm>
            <a:off x="2743200" y="5285232"/>
            <a:ext cx="2103120" cy="274320"/>
          </a:xfrm>
          <a:prstGeom prst="rect">
            <a:avLst/>
          </a:prstGeom>
          <a:noFill/>
          <a:ln/>
        </p:spPr>
        <p:txBody>
          <a:bodyPr wrap="square" lIns="0" tIns="0" rIns="0" bIns="0" rtlCol="0" anchor="ctr"/>
          <a:lstStyle/>
          <a:p>
            <a:pPr algn="ctr" indent="0" marL="0">
              <a:buNone/>
            </a:pPr>
            <a:r>
              <a:rPr lang="en-US" sz="1100" b="1" dirty="0">
                <a:solidFill>
                  <a:srgbClr val="CADCFC"/>
                </a:solidFill>
              </a:rPr>
              <a:t>TEAM T194</a:t>
            </a:r>
            <a:endParaRPr lang="en-US" sz="1100" dirty="0"/>
          </a:p>
        </p:txBody>
      </p:sp>
      <p:sp>
        <p:nvSpPr>
          <p:cNvPr id="11" name="Text 9"/>
          <p:cNvSpPr/>
          <p:nvPr/>
        </p:nvSpPr>
        <p:spPr>
          <a:xfrm>
            <a:off x="2743200" y="5522976"/>
            <a:ext cx="2103120" cy="274320"/>
          </a:xfrm>
          <a:prstGeom prst="rect">
            <a:avLst/>
          </a:prstGeom>
          <a:noFill/>
          <a:ln/>
        </p:spPr>
        <p:txBody>
          <a:bodyPr wrap="square" lIns="0" tIns="0" rIns="0" bIns="0" rtlCol="0" anchor="ctr"/>
          <a:lstStyle/>
          <a:p>
            <a:pPr algn="ctr" indent="0" marL="0">
              <a:buNone/>
            </a:pPr>
            <a:r>
              <a:rPr lang="en-US" sz="1200" dirty="0">
                <a:solidFill>
                  <a:srgbClr val="FFFFFF"/>
                </a:solidFill>
              </a:rPr>
              <a:t>4 students</a:t>
            </a:r>
            <a:endParaRPr lang="en-US" sz="1200" dirty="0"/>
          </a:p>
        </p:txBody>
      </p:sp>
      <p:sp>
        <p:nvSpPr>
          <p:cNvPr id="12" name="Shape 10"/>
          <p:cNvSpPr/>
          <p:nvPr/>
        </p:nvSpPr>
        <p:spPr>
          <a:xfrm>
            <a:off x="5029200" y="5212080"/>
            <a:ext cx="2377440" cy="640080"/>
          </a:xfrm>
          <a:prstGeom prst="roundRect">
            <a:avLst>
              <a:gd name="adj" fmla="val 14286"/>
            </a:avLst>
          </a:prstGeom>
          <a:solidFill>
            <a:srgbClr val="1A2233"/>
          </a:solidFill>
          <a:ln/>
        </p:spPr>
      </p:sp>
      <p:sp>
        <p:nvSpPr>
          <p:cNvPr id="13" name="Text 11"/>
          <p:cNvSpPr/>
          <p:nvPr/>
        </p:nvSpPr>
        <p:spPr>
          <a:xfrm>
            <a:off x="5029200" y="5285232"/>
            <a:ext cx="2377440" cy="274320"/>
          </a:xfrm>
          <a:prstGeom prst="rect">
            <a:avLst/>
          </a:prstGeom>
          <a:noFill/>
          <a:ln/>
        </p:spPr>
        <p:txBody>
          <a:bodyPr wrap="square" lIns="0" tIns="0" rIns="0" bIns="0" rtlCol="0" anchor="ctr"/>
          <a:lstStyle/>
          <a:p>
            <a:pPr algn="ctr" indent="0" marL="0">
              <a:buNone/>
            </a:pPr>
            <a:r>
              <a:rPr lang="en-US" sz="1100" b="1" dirty="0">
                <a:solidFill>
                  <a:srgbClr val="CADCFC"/>
                </a:solidFill>
              </a:rPr>
              <a:t>8 STUDENTS TOTAL</a:t>
            </a:r>
            <a:endParaRPr lang="en-US" sz="1100" dirty="0"/>
          </a:p>
        </p:txBody>
      </p:sp>
      <p:sp>
        <p:nvSpPr>
          <p:cNvPr id="14" name="Text 12"/>
          <p:cNvSpPr/>
          <p:nvPr/>
        </p:nvSpPr>
        <p:spPr>
          <a:xfrm>
            <a:off x="5029200" y="5522976"/>
            <a:ext cx="2377440" cy="274320"/>
          </a:xfrm>
          <a:prstGeom prst="rect">
            <a:avLst/>
          </a:prstGeom>
          <a:noFill/>
          <a:ln/>
        </p:spPr>
        <p:txBody>
          <a:bodyPr wrap="square" lIns="0" tIns="0" rIns="0" bIns="0" rtlCol="0" anchor="ctr"/>
          <a:lstStyle/>
          <a:p>
            <a:pPr algn="ctr" indent="0" marL="0">
              <a:buNone/>
            </a:pPr>
            <a:r>
              <a:rPr lang="en-US" sz="1200" dirty="0">
                <a:solidFill>
                  <a:srgbClr val="FFFFFF"/>
                </a:solidFill>
              </a:rPr>
              <a:t>2 teams, 1 problem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9144000" cy="5486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Project Overview</a:t>
            </a:r>
            <a:endParaRPr lang="en-US" sz="3000" dirty="0"/>
          </a:p>
        </p:txBody>
      </p:sp>
      <p:sp>
        <p:nvSpPr>
          <p:cNvPr id="3" name="Text 1"/>
          <p:cNvSpPr/>
          <p:nvPr/>
        </p:nvSpPr>
        <p:spPr>
          <a:xfrm>
            <a:off x="457200" y="914400"/>
            <a:ext cx="9144000" cy="365760"/>
          </a:xfrm>
          <a:prstGeom prst="rect">
            <a:avLst/>
          </a:prstGeom>
          <a:noFill/>
          <a:ln/>
        </p:spPr>
        <p:txBody>
          <a:bodyPr wrap="square" lIns="0" tIns="0" rIns="0" bIns="0" rtlCol="0" anchor="ctr"/>
          <a:lstStyle/>
          <a:p>
            <a:pPr indent="0" marL="0">
              <a:buNone/>
            </a:pPr>
            <a:r>
              <a:rPr lang="en-US" sz="1400" i="1" dirty="0">
                <a:solidFill>
                  <a:srgbClr val="5C6B7A"/>
                </a:solidFill>
              </a:rPr>
              <a:t>Why index tags, and what problem they solve</a:t>
            </a:r>
            <a:endParaRPr lang="en-US" sz="1400" dirty="0"/>
          </a:p>
        </p:txBody>
      </p:sp>
      <p:sp>
        <p:nvSpPr>
          <p:cNvPr id="4" name="Shape 2"/>
          <p:cNvSpPr/>
          <p:nvPr/>
        </p:nvSpPr>
        <p:spPr>
          <a:xfrm>
            <a:off x="457200" y="1508760"/>
            <a:ext cx="6309360" cy="4663440"/>
          </a:xfrm>
          <a:prstGeom prst="roundRect">
            <a:avLst>
              <a:gd name="adj" fmla="val 1569"/>
            </a:avLst>
          </a:prstGeom>
          <a:solidFill>
            <a:srgbClr val="F2F6F8"/>
          </a:solidFill>
          <a:ln/>
        </p:spPr>
      </p:sp>
      <p:sp>
        <p:nvSpPr>
          <p:cNvPr id="5" name="Text 3"/>
          <p:cNvSpPr/>
          <p:nvPr/>
        </p:nvSpPr>
        <p:spPr>
          <a:xfrm>
            <a:off x="777240" y="1783080"/>
            <a:ext cx="5669280" cy="36576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The problem</a:t>
            </a:r>
            <a:endParaRPr lang="en-US" sz="1600" dirty="0"/>
          </a:p>
        </p:txBody>
      </p:sp>
      <p:sp>
        <p:nvSpPr>
          <p:cNvPr id="6" name="Text 4"/>
          <p:cNvSpPr/>
          <p:nvPr/>
        </p:nvSpPr>
        <p:spPr>
          <a:xfrm>
            <a:off x="777240" y="2194560"/>
            <a:ext cx="5669280" cy="1188720"/>
          </a:xfrm>
          <a:prstGeom prst="rect">
            <a:avLst/>
          </a:prstGeom>
          <a:noFill/>
          <a:ln/>
        </p:spPr>
        <p:txBody>
          <a:bodyPr wrap="square" lIns="0" tIns="0" rIns="0" bIns="0" rtlCol="0" anchor="ctr"/>
          <a:lstStyle/>
          <a:p>
            <a:pPr indent="0" marL="0">
              <a:lnSpc>
                <a:spcPct val="125000"/>
              </a:lnSpc>
              <a:buNone/>
            </a:pPr>
            <a:r>
              <a:rPr lang="en-US" sz="1350" dirty="0">
                <a:solidFill>
                  <a:srgbClr val="1A2233"/>
                </a:solidFill>
                <a:latin typeface="Calibri" pitchFamily="34" charset="0"/>
                <a:ea typeface="Calibri" pitchFamily="34" charset="-122"/>
                <a:cs typeface="Calibri" pitchFamily="34" charset="-120"/>
              </a:rPr>
              <a:t>As blob containers grow to millions of objects, finding the right blobs by listing and filtering paths becomes slow and expensive. Azure Blob Storage lets you attach searchable key–value tags to each blob and query them directly — without walking the whole container.</a:t>
            </a:r>
            <a:endParaRPr lang="en-US" sz="1350" dirty="0"/>
          </a:p>
        </p:txBody>
      </p:sp>
      <p:sp>
        <p:nvSpPr>
          <p:cNvPr id="7" name="Text 5"/>
          <p:cNvSpPr/>
          <p:nvPr/>
        </p:nvSpPr>
        <p:spPr>
          <a:xfrm>
            <a:off x="777240" y="3520440"/>
            <a:ext cx="5669280" cy="36576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What this project builds</a:t>
            </a:r>
            <a:endParaRPr lang="en-US" sz="1600" dirty="0"/>
          </a:p>
        </p:txBody>
      </p:sp>
      <p:sp>
        <p:nvSpPr>
          <p:cNvPr id="8" name="Shape 6"/>
          <p:cNvSpPr/>
          <p:nvPr/>
        </p:nvSpPr>
        <p:spPr>
          <a:xfrm>
            <a:off x="777240" y="3977640"/>
            <a:ext cx="128016" cy="128016"/>
          </a:xfrm>
          <a:prstGeom prst="ellipse">
            <a:avLst/>
          </a:prstGeom>
          <a:solidFill>
            <a:srgbClr val="1C7293"/>
          </a:solidFill>
          <a:ln/>
        </p:spPr>
      </p:sp>
      <p:sp>
        <p:nvSpPr>
          <p:cNvPr id="9" name="Text 7"/>
          <p:cNvSpPr/>
          <p:nvPr/>
        </p:nvSpPr>
        <p:spPr>
          <a:xfrm>
            <a:off x="1051560" y="3886200"/>
            <a:ext cx="5394960" cy="502920"/>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A metadata tagging scheme for a large, growing blob container</a:t>
            </a:r>
            <a:endParaRPr lang="en-US" sz="1300" dirty="0"/>
          </a:p>
        </p:txBody>
      </p:sp>
      <p:sp>
        <p:nvSpPr>
          <p:cNvPr id="10" name="Shape 8"/>
          <p:cNvSpPr/>
          <p:nvPr/>
        </p:nvSpPr>
        <p:spPr>
          <a:xfrm>
            <a:off x="777240" y="4544568"/>
            <a:ext cx="128016" cy="128016"/>
          </a:xfrm>
          <a:prstGeom prst="ellipse">
            <a:avLst/>
          </a:prstGeom>
          <a:solidFill>
            <a:srgbClr val="1C7293"/>
          </a:solidFill>
          <a:ln/>
        </p:spPr>
      </p:sp>
      <p:sp>
        <p:nvSpPr>
          <p:cNvPr id="11" name="Text 9"/>
          <p:cNvSpPr/>
          <p:nvPr/>
        </p:nvSpPr>
        <p:spPr>
          <a:xfrm>
            <a:off x="1051560" y="4453128"/>
            <a:ext cx="5394960" cy="502920"/>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Query patterns that use the Blob Index REST/SDK filter API</a:t>
            </a:r>
            <a:endParaRPr lang="en-US" sz="1300" dirty="0"/>
          </a:p>
        </p:txBody>
      </p:sp>
      <p:sp>
        <p:nvSpPr>
          <p:cNvPr id="12" name="Shape 10"/>
          <p:cNvSpPr/>
          <p:nvPr/>
        </p:nvSpPr>
        <p:spPr>
          <a:xfrm>
            <a:off x="777240" y="5111496"/>
            <a:ext cx="128016" cy="128016"/>
          </a:xfrm>
          <a:prstGeom prst="ellipse">
            <a:avLst/>
          </a:prstGeom>
          <a:solidFill>
            <a:srgbClr val="1C7293"/>
          </a:solidFill>
          <a:ln/>
        </p:spPr>
      </p:sp>
      <p:sp>
        <p:nvSpPr>
          <p:cNvPr id="13" name="Text 11"/>
          <p:cNvSpPr/>
          <p:nvPr/>
        </p:nvSpPr>
        <p:spPr>
          <a:xfrm>
            <a:off x="1051560" y="5020056"/>
            <a:ext cx="5394960" cy="502920"/>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A working comparison of tag-based lookup vs. full enumeration</a:t>
            </a:r>
            <a:endParaRPr lang="en-US" sz="1300" dirty="0"/>
          </a:p>
        </p:txBody>
      </p:sp>
      <p:sp>
        <p:nvSpPr>
          <p:cNvPr id="14" name="Shape 12"/>
          <p:cNvSpPr/>
          <p:nvPr/>
        </p:nvSpPr>
        <p:spPr>
          <a:xfrm>
            <a:off x="7040880" y="1508760"/>
            <a:ext cx="4663440" cy="1371600"/>
          </a:xfrm>
          <a:prstGeom prst="roundRect">
            <a:avLst>
              <a:gd name="adj" fmla="val 5333"/>
            </a:avLst>
          </a:prstGeom>
          <a:solidFill>
            <a:srgbClr val="065A82"/>
          </a:solidFill>
          <a:ln/>
        </p:spPr>
      </p:sp>
      <p:sp>
        <p:nvSpPr>
          <p:cNvPr id="15" name="Text 13"/>
          <p:cNvSpPr/>
          <p:nvPr/>
        </p:nvSpPr>
        <p:spPr>
          <a:xfrm>
            <a:off x="7269480" y="1645920"/>
            <a:ext cx="201168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a:t>
            </a:r>
            <a:endParaRPr lang="en-US" sz="4000" dirty="0"/>
          </a:p>
        </p:txBody>
      </p:sp>
      <p:sp>
        <p:nvSpPr>
          <p:cNvPr id="16" name="Text 14"/>
          <p:cNvSpPr/>
          <p:nvPr/>
        </p:nvSpPr>
        <p:spPr>
          <a:xfrm>
            <a:off x="9144000" y="1645920"/>
            <a:ext cx="2377440" cy="1005840"/>
          </a:xfrm>
          <a:prstGeom prst="rect">
            <a:avLst/>
          </a:prstGeom>
          <a:noFill/>
          <a:ln/>
        </p:spPr>
        <p:txBody>
          <a:bodyPr wrap="square" lIns="0" tIns="0" rIns="0" bIns="0" rtlCol="0" anchor="ctr"/>
          <a:lstStyle/>
          <a:p>
            <a:pPr indent="0" marL="0">
              <a:lnSpc>
                <a:spcPct val="115000"/>
              </a:lnSpc>
              <a:buNone/>
            </a:pPr>
            <a:r>
              <a:rPr lang="en-US" sz="1250" dirty="0">
                <a:solidFill>
                  <a:srgbClr val="E4EEF5"/>
                </a:solidFill>
                <a:latin typeface="Calibri" pitchFamily="34" charset="0"/>
                <a:ea typeface="Calibri" pitchFamily="34" charset="-122"/>
                <a:cs typeface="Calibri" pitchFamily="34" charset="-120"/>
              </a:rPr>
              <a:t>tags max</a:t>
            </a:r>
            <a:endParaRPr lang="en-US" sz="1250" dirty="0"/>
          </a:p>
          <a:p>
            <a:pPr indent="0" marL="0">
              <a:lnSpc>
                <a:spcPct val="115000"/>
              </a:lnSpc>
              <a:buNone/>
            </a:pPr>
            <a:r>
              <a:rPr lang="en-US" sz="1250" dirty="0">
                <a:solidFill>
                  <a:srgbClr val="E4EEF5"/>
                </a:solidFill>
                <a:latin typeface="Calibri" pitchFamily="34" charset="0"/>
                <a:ea typeface="Calibri" pitchFamily="34" charset="-122"/>
                <a:cs typeface="Calibri" pitchFamily="34" charset="-120"/>
              </a:rPr>
              <a:t>per blob</a:t>
            </a:r>
            <a:endParaRPr lang="en-US" sz="1250" dirty="0"/>
          </a:p>
        </p:txBody>
      </p:sp>
      <p:sp>
        <p:nvSpPr>
          <p:cNvPr id="17" name="Shape 15"/>
          <p:cNvSpPr/>
          <p:nvPr/>
        </p:nvSpPr>
        <p:spPr>
          <a:xfrm>
            <a:off x="7040880" y="3017520"/>
            <a:ext cx="4663440" cy="1371600"/>
          </a:xfrm>
          <a:prstGeom prst="roundRect">
            <a:avLst>
              <a:gd name="adj" fmla="val 5333"/>
            </a:avLst>
          </a:prstGeom>
          <a:solidFill>
            <a:srgbClr val="1C7293"/>
          </a:solidFill>
          <a:ln/>
        </p:spPr>
      </p:sp>
      <p:sp>
        <p:nvSpPr>
          <p:cNvPr id="18" name="Text 16"/>
          <p:cNvSpPr/>
          <p:nvPr/>
        </p:nvSpPr>
        <p:spPr>
          <a:xfrm>
            <a:off x="7269480" y="3154680"/>
            <a:ext cx="201168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O(1)</a:t>
            </a:r>
            <a:endParaRPr lang="en-US" sz="4000" dirty="0"/>
          </a:p>
        </p:txBody>
      </p:sp>
      <p:sp>
        <p:nvSpPr>
          <p:cNvPr id="19" name="Text 17"/>
          <p:cNvSpPr/>
          <p:nvPr/>
        </p:nvSpPr>
        <p:spPr>
          <a:xfrm>
            <a:off x="9144000" y="3154680"/>
            <a:ext cx="2377440" cy="1005840"/>
          </a:xfrm>
          <a:prstGeom prst="rect">
            <a:avLst/>
          </a:prstGeom>
          <a:noFill/>
          <a:ln/>
        </p:spPr>
        <p:txBody>
          <a:bodyPr wrap="square" lIns="0" tIns="0" rIns="0" bIns="0" rtlCol="0" anchor="ctr"/>
          <a:lstStyle/>
          <a:p>
            <a:pPr indent="0" marL="0">
              <a:lnSpc>
                <a:spcPct val="115000"/>
              </a:lnSpc>
              <a:buNone/>
            </a:pPr>
            <a:r>
              <a:rPr lang="en-US" sz="1250" dirty="0">
                <a:solidFill>
                  <a:srgbClr val="E4EEF5"/>
                </a:solidFill>
                <a:latin typeface="Calibri" pitchFamily="34" charset="0"/>
                <a:ea typeface="Calibri" pitchFamily="34" charset="-122"/>
                <a:cs typeface="Calibri" pitchFamily="34" charset="-120"/>
              </a:rPr>
              <a:t>lookup via tag</a:t>
            </a:r>
            <a:endParaRPr lang="en-US" sz="1250" dirty="0"/>
          </a:p>
          <a:p>
            <a:pPr indent="0" marL="0">
              <a:lnSpc>
                <a:spcPct val="115000"/>
              </a:lnSpc>
              <a:buNone/>
            </a:pPr>
            <a:r>
              <a:rPr lang="en-US" sz="1250" dirty="0">
                <a:solidFill>
                  <a:srgbClr val="E4EEF5"/>
                </a:solidFill>
                <a:latin typeface="Calibri" pitchFamily="34" charset="0"/>
                <a:ea typeface="Calibri" pitchFamily="34" charset="-122"/>
                <a:cs typeface="Calibri" pitchFamily="34" charset="-120"/>
              </a:rPr>
              <a:t>filter, not scan</a:t>
            </a:r>
            <a:endParaRPr lang="en-US" sz="1250" dirty="0"/>
          </a:p>
        </p:txBody>
      </p:sp>
      <p:sp>
        <p:nvSpPr>
          <p:cNvPr id="20" name="Shape 18"/>
          <p:cNvSpPr/>
          <p:nvPr/>
        </p:nvSpPr>
        <p:spPr>
          <a:xfrm>
            <a:off x="7040880" y="4526280"/>
            <a:ext cx="4663440" cy="1371600"/>
          </a:xfrm>
          <a:prstGeom prst="roundRect">
            <a:avLst>
              <a:gd name="adj" fmla="val 5333"/>
            </a:avLst>
          </a:prstGeom>
          <a:solidFill>
            <a:srgbClr val="21295C"/>
          </a:solidFill>
          <a:ln/>
        </p:spPr>
      </p:sp>
      <p:sp>
        <p:nvSpPr>
          <p:cNvPr id="21" name="Text 19"/>
          <p:cNvSpPr/>
          <p:nvPr/>
        </p:nvSpPr>
        <p:spPr>
          <a:xfrm>
            <a:off x="7269480" y="4663440"/>
            <a:ext cx="201168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1000s</a:t>
            </a:r>
            <a:endParaRPr lang="en-US" sz="4000" dirty="0"/>
          </a:p>
        </p:txBody>
      </p:sp>
      <p:sp>
        <p:nvSpPr>
          <p:cNvPr id="22" name="Text 20"/>
          <p:cNvSpPr/>
          <p:nvPr/>
        </p:nvSpPr>
        <p:spPr>
          <a:xfrm>
            <a:off x="9144000" y="4663440"/>
            <a:ext cx="2377440" cy="1005840"/>
          </a:xfrm>
          <a:prstGeom prst="rect">
            <a:avLst/>
          </a:prstGeom>
          <a:noFill/>
          <a:ln/>
        </p:spPr>
        <p:txBody>
          <a:bodyPr wrap="square" lIns="0" tIns="0" rIns="0" bIns="0" rtlCol="0" anchor="ctr"/>
          <a:lstStyle/>
          <a:p>
            <a:pPr indent="0" marL="0">
              <a:lnSpc>
                <a:spcPct val="115000"/>
              </a:lnSpc>
              <a:buNone/>
            </a:pPr>
            <a:r>
              <a:rPr lang="en-US" sz="1250" dirty="0">
                <a:solidFill>
                  <a:srgbClr val="E4EEF5"/>
                </a:solidFill>
                <a:latin typeface="Calibri" pitchFamily="34" charset="0"/>
                <a:ea typeface="Calibri" pitchFamily="34" charset="-122"/>
                <a:cs typeface="Calibri" pitchFamily="34" charset="-120"/>
              </a:rPr>
              <a:t>of blobs targeted</a:t>
            </a:r>
            <a:endParaRPr lang="en-US" sz="1250" dirty="0"/>
          </a:p>
          <a:p>
            <a:pPr indent="0" marL="0">
              <a:lnSpc>
                <a:spcPct val="115000"/>
              </a:lnSpc>
              <a:buNone/>
            </a:pPr>
            <a:r>
              <a:rPr lang="en-US" sz="1250" dirty="0">
                <a:solidFill>
                  <a:srgbClr val="E4EEF5"/>
                </a:solidFill>
                <a:latin typeface="Calibri" pitchFamily="34" charset="0"/>
                <a:ea typeface="Calibri" pitchFamily="34" charset="-122"/>
                <a:cs typeface="Calibri" pitchFamily="34" charset="-120"/>
              </a:rPr>
              <a:t>in test containers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9144000" cy="5486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Use Cases</a:t>
            </a:r>
            <a:endParaRPr lang="en-US" sz="3000" dirty="0"/>
          </a:p>
        </p:txBody>
      </p:sp>
      <p:sp>
        <p:nvSpPr>
          <p:cNvPr id="3" name="Text 1"/>
          <p:cNvSpPr/>
          <p:nvPr/>
        </p:nvSpPr>
        <p:spPr>
          <a:xfrm>
            <a:off x="457200" y="914400"/>
            <a:ext cx="9144000" cy="365760"/>
          </a:xfrm>
          <a:prstGeom prst="rect">
            <a:avLst/>
          </a:prstGeom>
          <a:noFill/>
          <a:ln/>
        </p:spPr>
        <p:txBody>
          <a:bodyPr wrap="square" lIns="0" tIns="0" rIns="0" bIns="0" rtlCol="0" anchor="ctr"/>
          <a:lstStyle/>
          <a:p>
            <a:pPr indent="0" marL="0">
              <a:buNone/>
            </a:pPr>
            <a:r>
              <a:rPr lang="en-US" sz="1400" i="1" dirty="0">
                <a:solidFill>
                  <a:srgbClr val="5C6B7A"/>
                </a:solidFill>
              </a:rPr>
              <a:t>What index tags unlock at scale</a:t>
            </a:r>
            <a:endParaRPr lang="en-US" sz="1400" dirty="0"/>
          </a:p>
        </p:txBody>
      </p:sp>
      <p:sp>
        <p:nvSpPr>
          <p:cNvPr id="4" name="Shape 2"/>
          <p:cNvSpPr/>
          <p:nvPr/>
        </p:nvSpPr>
        <p:spPr>
          <a:xfrm>
            <a:off x="457200" y="1554480"/>
            <a:ext cx="5349240" cy="4572000"/>
          </a:xfrm>
          <a:prstGeom prst="roundRect">
            <a:avLst>
              <a:gd name="adj" fmla="val 1600"/>
            </a:avLst>
          </a:prstGeom>
          <a:solidFill>
            <a:srgbClr val="F2F6F8"/>
          </a:solidFill>
          <a:ln/>
        </p:spPr>
      </p:sp>
      <p:sp>
        <p:nvSpPr>
          <p:cNvPr id="5" name="Shape 3"/>
          <p:cNvSpPr/>
          <p:nvPr/>
        </p:nvSpPr>
        <p:spPr>
          <a:xfrm>
            <a:off x="822960" y="1874520"/>
            <a:ext cx="640080" cy="640080"/>
          </a:xfrm>
          <a:prstGeom prst="ellipse">
            <a:avLst/>
          </a:prstGeom>
          <a:solidFill>
            <a:srgbClr val="065A82"/>
          </a:solidFill>
          <a:ln/>
        </p:spPr>
      </p:sp>
      <p:sp>
        <p:nvSpPr>
          <p:cNvPr id="6" name="Text 4"/>
          <p:cNvSpPr/>
          <p:nvPr/>
        </p:nvSpPr>
        <p:spPr>
          <a:xfrm>
            <a:off x="822960" y="187452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822960" y="2697480"/>
            <a:ext cx="4663440" cy="822960"/>
          </a:xfrm>
          <a:prstGeom prst="rect">
            <a:avLst/>
          </a:prstGeom>
          <a:noFill/>
          <a:ln/>
        </p:spPr>
        <p:txBody>
          <a:bodyPr wrap="square" lIns="0" tIns="0" rIns="0" bIns="0" rtlCol="0" anchor="ctr"/>
          <a:lstStyle/>
          <a:p>
            <a:pPr indent="0" marL="0">
              <a:lnSpc>
                <a:spcPct val="110000"/>
              </a:lnSpc>
              <a:buNone/>
            </a:pPr>
            <a:r>
              <a:rPr lang="en-US" sz="1700" b="1" dirty="0">
                <a:solidFill>
                  <a:srgbClr val="21295C"/>
                </a:solidFill>
                <a:latin typeface="Calibri" pitchFamily="34" charset="0"/>
                <a:ea typeface="Calibri" pitchFamily="34" charset="-122"/>
                <a:cs typeface="Calibri" pitchFamily="34" charset="-120"/>
              </a:rPr>
              <a:t>Metadata-based blob discovery at scale</a:t>
            </a:r>
            <a:endParaRPr lang="en-US" sz="1700" dirty="0"/>
          </a:p>
        </p:txBody>
      </p:sp>
      <p:sp>
        <p:nvSpPr>
          <p:cNvPr id="8" name="Text 6"/>
          <p:cNvSpPr/>
          <p:nvPr/>
        </p:nvSpPr>
        <p:spPr>
          <a:xfrm>
            <a:off x="822960" y="3520440"/>
            <a:ext cx="4663440" cy="2377440"/>
          </a:xfrm>
          <a:prstGeom prst="rect">
            <a:avLst/>
          </a:prstGeom>
          <a:noFill/>
          <a:ln/>
        </p:spPr>
        <p:txBody>
          <a:bodyPr wrap="square" lIns="0" tIns="0" rIns="0" bIns="0" rtlCol="0" anchor="ctr"/>
          <a:lstStyle/>
          <a:p>
            <a:pPr indent="0" marL="0">
              <a:lnSpc>
                <a:spcPct val="130000"/>
              </a:lnSpc>
              <a:buNone/>
            </a:pPr>
            <a:r>
              <a:rPr lang="en-US" sz="1300" dirty="0">
                <a:solidFill>
                  <a:srgbClr val="1A2233"/>
                </a:solidFill>
                <a:latin typeface="Calibri" pitchFamily="34" charset="0"/>
                <a:ea typeface="Calibri" pitchFamily="34" charset="-122"/>
                <a:cs typeface="Calibri" pitchFamily="34" charset="-120"/>
              </a:rPr>
              <a:t>Attach key–value tags (e.g. project, status, owner, date) to every blob, then run SQL-like filter queries to retrieve exactly the matching set — across the whole account, not just one container.</a:t>
            </a:r>
            <a:endParaRPr lang="en-US" sz="1300" dirty="0"/>
          </a:p>
        </p:txBody>
      </p:sp>
      <p:sp>
        <p:nvSpPr>
          <p:cNvPr id="9" name="Shape 7"/>
          <p:cNvSpPr/>
          <p:nvPr/>
        </p:nvSpPr>
        <p:spPr>
          <a:xfrm>
            <a:off x="6080760" y="1554480"/>
            <a:ext cx="5349240" cy="4572000"/>
          </a:xfrm>
          <a:prstGeom prst="roundRect">
            <a:avLst>
              <a:gd name="adj" fmla="val 1600"/>
            </a:avLst>
          </a:prstGeom>
          <a:solidFill>
            <a:srgbClr val="F2F6F8"/>
          </a:solidFill>
          <a:ln/>
        </p:spPr>
      </p:sp>
      <p:sp>
        <p:nvSpPr>
          <p:cNvPr id="10" name="Shape 8"/>
          <p:cNvSpPr/>
          <p:nvPr/>
        </p:nvSpPr>
        <p:spPr>
          <a:xfrm>
            <a:off x="6446520" y="1874520"/>
            <a:ext cx="640080" cy="640080"/>
          </a:xfrm>
          <a:prstGeom prst="ellipse">
            <a:avLst/>
          </a:prstGeom>
          <a:solidFill>
            <a:srgbClr val="065A82"/>
          </a:solidFill>
          <a:ln/>
        </p:spPr>
      </p:sp>
      <p:sp>
        <p:nvSpPr>
          <p:cNvPr id="11" name="Text 9"/>
          <p:cNvSpPr/>
          <p:nvPr/>
        </p:nvSpPr>
        <p:spPr>
          <a:xfrm>
            <a:off x="6446520" y="187452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6446520" y="2697480"/>
            <a:ext cx="4663440" cy="822960"/>
          </a:xfrm>
          <a:prstGeom prst="rect">
            <a:avLst/>
          </a:prstGeom>
          <a:noFill/>
          <a:ln/>
        </p:spPr>
        <p:txBody>
          <a:bodyPr wrap="square" lIns="0" tIns="0" rIns="0" bIns="0" rtlCol="0" anchor="ctr"/>
          <a:lstStyle/>
          <a:p>
            <a:pPr indent="0" marL="0">
              <a:lnSpc>
                <a:spcPct val="110000"/>
              </a:lnSpc>
              <a:buNone/>
            </a:pPr>
            <a:r>
              <a:rPr lang="en-US" sz="1700" b="1" dirty="0">
                <a:solidFill>
                  <a:srgbClr val="21295C"/>
                </a:solidFill>
                <a:latin typeface="Calibri" pitchFamily="34" charset="0"/>
                <a:ea typeface="Calibri" pitchFamily="34" charset="-122"/>
                <a:cs typeface="Calibri" pitchFamily="34" charset="-120"/>
              </a:rPr>
              <a:t>Avoid full container enumeration</a:t>
            </a:r>
            <a:endParaRPr lang="en-US" sz="1700" dirty="0"/>
          </a:p>
        </p:txBody>
      </p:sp>
      <p:sp>
        <p:nvSpPr>
          <p:cNvPr id="13" name="Text 11"/>
          <p:cNvSpPr/>
          <p:nvPr/>
        </p:nvSpPr>
        <p:spPr>
          <a:xfrm>
            <a:off x="6446520" y="3520440"/>
            <a:ext cx="4663440" cy="2377440"/>
          </a:xfrm>
          <a:prstGeom prst="rect">
            <a:avLst/>
          </a:prstGeom>
          <a:noFill/>
          <a:ln/>
        </p:spPr>
        <p:txBody>
          <a:bodyPr wrap="square" lIns="0" tIns="0" rIns="0" bIns="0" rtlCol="0" anchor="ctr"/>
          <a:lstStyle/>
          <a:p>
            <a:pPr indent="0" marL="0">
              <a:lnSpc>
                <a:spcPct val="130000"/>
              </a:lnSpc>
              <a:buNone/>
            </a:pPr>
            <a:r>
              <a:rPr lang="en-US" sz="1300" dirty="0">
                <a:solidFill>
                  <a:srgbClr val="1A2233"/>
                </a:solidFill>
                <a:latin typeface="Calibri" pitchFamily="34" charset="0"/>
                <a:ea typeface="Calibri" pitchFamily="34" charset="-122"/>
                <a:cs typeface="Calibri" pitchFamily="34" charset="-120"/>
              </a:rPr>
              <a:t>Listing every blob to find a subset does not scale past a few hundred thousand objects. Tag filtering answers the same question with an indexed lookup instead of a linear scan.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9144000" cy="5486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How It Works</a:t>
            </a:r>
            <a:endParaRPr lang="en-US" sz="3000" dirty="0"/>
          </a:p>
        </p:txBody>
      </p:sp>
      <p:sp>
        <p:nvSpPr>
          <p:cNvPr id="3" name="Text 1"/>
          <p:cNvSpPr/>
          <p:nvPr/>
        </p:nvSpPr>
        <p:spPr>
          <a:xfrm>
            <a:off x="457200" y="914400"/>
            <a:ext cx="9144000" cy="365760"/>
          </a:xfrm>
          <a:prstGeom prst="rect">
            <a:avLst/>
          </a:prstGeom>
          <a:noFill/>
          <a:ln/>
        </p:spPr>
        <p:txBody>
          <a:bodyPr wrap="square" lIns="0" tIns="0" rIns="0" bIns="0" rtlCol="0" anchor="ctr"/>
          <a:lstStyle/>
          <a:p>
            <a:pPr indent="0" marL="0">
              <a:buNone/>
            </a:pPr>
            <a:r>
              <a:rPr lang="en-US" sz="1400" i="1" dirty="0">
                <a:solidFill>
                  <a:srgbClr val="5C6B7A"/>
                </a:solidFill>
              </a:rPr>
              <a:t>Tag once, query without scanning</a:t>
            </a:r>
            <a:endParaRPr lang="en-US" sz="1400" dirty="0"/>
          </a:p>
        </p:txBody>
      </p:sp>
      <p:sp>
        <p:nvSpPr>
          <p:cNvPr id="4" name="Shape 2"/>
          <p:cNvSpPr/>
          <p:nvPr/>
        </p:nvSpPr>
        <p:spPr>
          <a:xfrm>
            <a:off x="457200" y="1600200"/>
            <a:ext cx="548640" cy="548640"/>
          </a:xfrm>
          <a:prstGeom prst="ellipse">
            <a:avLst/>
          </a:prstGeom>
          <a:solidFill>
            <a:srgbClr val="1C7293"/>
          </a:solidFill>
          <a:ln/>
        </p:spPr>
      </p:sp>
      <p:sp>
        <p:nvSpPr>
          <p:cNvPr id="5" name="Text 3"/>
          <p:cNvSpPr/>
          <p:nvPr/>
        </p:nvSpPr>
        <p:spPr>
          <a:xfrm>
            <a:off x="457200" y="1600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p:nvPr/>
        </p:nvSpPr>
        <p:spPr>
          <a:xfrm>
            <a:off x="1143000" y="1600200"/>
            <a:ext cx="2926080" cy="54864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Tag the blob</a:t>
            </a:r>
            <a:endParaRPr lang="en-US" sz="1500" dirty="0"/>
          </a:p>
        </p:txBody>
      </p:sp>
      <p:sp>
        <p:nvSpPr>
          <p:cNvPr id="7" name="Text 5"/>
          <p:cNvSpPr/>
          <p:nvPr/>
        </p:nvSpPr>
        <p:spPr>
          <a:xfrm>
            <a:off x="457200" y="2331720"/>
            <a:ext cx="3520440" cy="1188720"/>
          </a:xfrm>
          <a:prstGeom prst="rect">
            <a:avLst/>
          </a:prstGeom>
          <a:noFill/>
          <a:ln/>
        </p:spPr>
        <p:txBody>
          <a:bodyPr wrap="square" lIns="0" tIns="0" rIns="0" bIns="0" rtlCol="0" anchor="ctr"/>
          <a:lstStyle/>
          <a:p>
            <a:pPr indent="0" marL="0">
              <a:lnSpc>
                <a:spcPct val="125000"/>
              </a:lnSpc>
              <a:buNone/>
            </a:pPr>
            <a:r>
              <a:rPr lang="en-US" sz="1200" dirty="0">
                <a:solidFill>
                  <a:srgbClr val="1A2233"/>
                </a:solidFill>
                <a:latin typeface="Calibri" pitchFamily="34" charset="0"/>
                <a:ea typeface="Calibri" pitchFamily="34" charset="-122"/>
                <a:cs typeface="Calibri" pitchFamily="34" charset="-120"/>
              </a:rPr>
              <a:t>Set index tags as key–value pairs on upload or after the fact (e.g. dept=finance, year=2026).</a:t>
            </a:r>
            <a:endParaRPr lang="en-US" sz="1200" dirty="0"/>
          </a:p>
        </p:txBody>
      </p:sp>
      <p:sp>
        <p:nvSpPr>
          <p:cNvPr id="8" name="Text 6"/>
          <p:cNvSpPr/>
          <p:nvPr/>
        </p:nvSpPr>
        <p:spPr>
          <a:xfrm>
            <a:off x="3977640" y="1508760"/>
            <a:ext cx="320040" cy="731520"/>
          </a:xfrm>
          <a:prstGeom prst="rect">
            <a:avLst/>
          </a:prstGeom>
          <a:noFill/>
          <a:ln/>
        </p:spPr>
        <p:txBody>
          <a:bodyPr wrap="square" lIns="0" tIns="0" rIns="0" bIns="0" rtlCol="0" anchor="ctr"/>
          <a:lstStyle/>
          <a:p>
            <a:pPr algn="ctr" indent="0" marL="0">
              <a:buNone/>
            </a:pPr>
            <a:r>
              <a:rPr lang="en-US" sz="2200" dirty="0">
                <a:solidFill>
                  <a:srgbClr val="5C6B7A"/>
                </a:solidFill>
              </a:rPr>
              <a:t>→</a:t>
            </a:r>
            <a:endParaRPr lang="en-US" sz="2200" dirty="0"/>
          </a:p>
        </p:txBody>
      </p:sp>
      <p:sp>
        <p:nvSpPr>
          <p:cNvPr id="9" name="Shape 7"/>
          <p:cNvSpPr/>
          <p:nvPr/>
        </p:nvSpPr>
        <p:spPr>
          <a:xfrm>
            <a:off x="4251960" y="1600200"/>
            <a:ext cx="548640" cy="548640"/>
          </a:xfrm>
          <a:prstGeom prst="ellipse">
            <a:avLst/>
          </a:prstGeom>
          <a:solidFill>
            <a:srgbClr val="1C7293"/>
          </a:solidFill>
          <a:ln/>
        </p:spPr>
      </p:sp>
      <p:sp>
        <p:nvSpPr>
          <p:cNvPr id="10" name="Text 8"/>
          <p:cNvSpPr/>
          <p:nvPr/>
        </p:nvSpPr>
        <p:spPr>
          <a:xfrm>
            <a:off x="4251960" y="1600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Text 9"/>
          <p:cNvSpPr/>
          <p:nvPr/>
        </p:nvSpPr>
        <p:spPr>
          <a:xfrm>
            <a:off x="4937760" y="1600200"/>
            <a:ext cx="2926080" cy="54864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Index builds automatically</a:t>
            </a:r>
            <a:endParaRPr lang="en-US" sz="1500" dirty="0"/>
          </a:p>
        </p:txBody>
      </p:sp>
      <p:sp>
        <p:nvSpPr>
          <p:cNvPr id="12" name="Text 10"/>
          <p:cNvSpPr/>
          <p:nvPr/>
        </p:nvSpPr>
        <p:spPr>
          <a:xfrm>
            <a:off x="4251960" y="2331720"/>
            <a:ext cx="3520440" cy="1188720"/>
          </a:xfrm>
          <a:prstGeom prst="rect">
            <a:avLst/>
          </a:prstGeom>
          <a:noFill/>
          <a:ln/>
        </p:spPr>
        <p:txBody>
          <a:bodyPr wrap="square" lIns="0" tIns="0" rIns="0" bIns="0" rtlCol="0" anchor="ctr"/>
          <a:lstStyle/>
          <a:p>
            <a:pPr indent="0" marL="0">
              <a:lnSpc>
                <a:spcPct val="125000"/>
              </a:lnSpc>
              <a:buNone/>
            </a:pPr>
            <a:r>
              <a:rPr lang="en-US" sz="1200" dirty="0">
                <a:solidFill>
                  <a:srgbClr val="1A2233"/>
                </a:solidFill>
                <a:latin typeface="Calibri" pitchFamily="34" charset="0"/>
                <a:ea typeface="Calibri" pitchFamily="34" charset="-122"/>
                <a:cs typeface="Calibri" pitchFamily="34" charset="-120"/>
              </a:rPr>
              <a:t>Azure Storage maintains a service-side index over all tags in the account — no extra infrastructure to run.</a:t>
            </a:r>
            <a:endParaRPr lang="en-US" sz="1200" dirty="0"/>
          </a:p>
        </p:txBody>
      </p:sp>
      <p:sp>
        <p:nvSpPr>
          <p:cNvPr id="13" name="Text 11"/>
          <p:cNvSpPr/>
          <p:nvPr/>
        </p:nvSpPr>
        <p:spPr>
          <a:xfrm>
            <a:off x="7772400" y="1508760"/>
            <a:ext cx="320040" cy="731520"/>
          </a:xfrm>
          <a:prstGeom prst="rect">
            <a:avLst/>
          </a:prstGeom>
          <a:noFill/>
          <a:ln/>
        </p:spPr>
        <p:txBody>
          <a:bodyPr wrap="square" lIns="0" tIns="0" rIns="0" bIns="0" rtlCol="0" anchor="ctr"/>
          <a:lstStyle/>
          <a:p>
            <a:pPr algn="ctr" indent="0" marL="0">
              <a:buNone/>
            </a:pPr>
            <a:r>
              <a:rPr lang="en-US" sz="2200" dirty="0">
                <a:solidFill>
                  <a:srgbClr val="5C6B7A"/>
                </a:solidFill>
              </a:rPr>
              <a:t>→</a:t>
            </a:r>
            <a:endParaRPr lang="en-US" sz="2200" dirty="0"/>
          </a:p>
        </p:txBody>
      </p:sp>
      <p:sp>
        <p:nvSpPr>
          <p:cNvPr id="14" name="Shape 12"/>
          <p:cNvSpPr/>
          <p:nvPr/>
        </p:nvSpPr>
        <p:spPr>
          <a:xfrm>
            <a:off x="8046720" y="1600200"/>
            <a:ext cx="548640" cy="548640"/>
          </a:xfrm>
          <a:prstGeom prst="ellipse">
            <a:avLst/>
          </a:prstGeom>
          <a:solidFill>
            <a:srgbClr val="1C7293"/>
          </a:solidFill>
          <a:ln/>
        </p:spPr>
      </p:sp>
      <p:sp>
        <p:nvSpPr>
          <p:cNvPr id="15" name="Text 13"/>
          <p:cNvSpPr/>
          <p:nvPr/>
        </p:nvSpPr>
        <p:spPr>
          <a:xfrm>
            <a:off x="8046720" y="1600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6" name="Text 14"/>
          <p:cNvSpPr/>
          <p:nvPr/>
        </p:nvSpPr>
        <p:spPr>
          <a:xfrm>
            <a:off x="8732520" y="1600200"/>
            <a:ext cx="2926080" cy="54864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Query by tag, not by path</a:t>
            </a:r>
            <a:endParaRPr lang="en-US" sz="1500" dirty="0"/>
          </a:p>
        </p:txBody>
      </p:sp>
      <p:sp>
        <p:nvSpPr>
          <p:cNvPr id="17" name="Text 15"/>
          <p:cNvSpPr/>
          <p:nvPr/>
        </p:nvSpPr>
        <p:spPr>
          <a:xfrm>
            <a:off x="8046720" y="2331720"/>
            <a:ext cx="3520440" cy="1188720"/>
          </a:xfrm>
          <a:prstGeom prst="rect">
            <a:avLst/>
          </a:prstGeom>
          <a:noFill/>
          <a:ln/>
        </p:spPr>
        <p:txBody>
          <a:bodyPr wrap="square" lIns="0" tIns="0" rIns="0" bIns="0" rtlCol="0" anchor="ctr"/>
          <a:lstStyle/>
          <a:p>
            <a:pPr indent="0" marL="0">
              <a:lnSpc>
                <a:spcPct val="125000"/>
              </a:lnSpc>
              <a:buNone/>
            </a:pPr>
            <a:r>
              <a:rPr lang="en-US" sz="1200" dirty="0">
                <a:solidFill>
                  <a:srgbClr val="1A2233"/>
                </a:solidFill>
                <a:latin typeface="Calibri" pitchFamily="34" charset="0"/>
                <a:ea typeface="Calibri" pitchFamily="34" charset="-122"/>
                <a:cs typeface="Calibri" pitchFamily="34" charset="-120"/>
              </a:rPr>
              <a:t>Run a filter expression (like a WHERE clause) and get back exactly the matching blobs, from any container.</a:t>
            </a:r>
            <a:endParaRPr lang="en-US" sz="1200" dirty="0"/>
          </a:p>
        </p:txBody>
      </p:sp>
      <p:sp>
        <p:nvSpPr>
          <p:cNvPr id="18" name="Shape 16"/>
          <p:cNvSpPr/>
          <p:nvPr/>
        </p:nvSpPr>
        <p:spPr>
          <a:xfrm>
            <a:off x="457200" y="3794760"/>
            <a:ext cx="11247120" cy="2286000"/>
          </a:xfrm>
          <a:prstGeom prst="roundRect">
            <a:avLst>
              <a:gd name="adj" fmla="val 3200"/>
            </a:avLst>
          </a:prstGeom>
          <a:solidFill>
            <a:srgbClr val="21295C"/>
          </a:solidFill>
          <a:ln/>
        </p:spPr>
      </p:sp>
      <p:sp>
        <p:nvSpPr>
          <p:cNvPr id="19" name="Text 17"/>
          <p:cNvSpPr/>
          <p:nvPr/>
        </p:nvSpPr>
        <p:spPr>
          <a:xfrm>
            <a:off x="822960" y="4023360"/>
            <a:ext cx="5486400" cy="320040"/>
          </a:xfrm>
          <a:prstGeom prst="rect">
            <a:avLst/>
          </a:prstGeom>
          <a:noFill/>
          <a:ln/>
        </p:spPr>
        <p:txBody>
          <a:bodyPr wrap="square" lIns="0" tIns="0" rIns="0" bIns="0" rtlCol="0" anchor="ctr"/>
          <a:lstStyle/>
          <a:p>
            <a:pPr indent="0" marL="0">
              <a:buNone/>
            </a:pPr>
            <a:r>
              <a:rPr lang="en-US" sz="1100" b="1" spc="200" kern="0" dirty="0">
                <a:solidFill>
                  <a:srgbClr val="CADCFC"/>
                </a:solidFill>
              </a:rPr>
              <a:t>EXAMPLE FILTER QUERY</a:t>
            </a:r>
            <a:endParaRPr lang="en-US" sz="1100" dirty="0"/>
          </a:p>
        </p:txBody>
      </p:sp>
      <p:sp>
        <p:nvSpPr>
          <p:cNvPr id="20" name="Text 18"/>
          <p:cNvSpPr/>
          <p:nvPr/>
        </p:nvSpPr>
        <p:spPr>
          <a:xfrm>
            <a:off x="822960" y="4389120"/>
            <a:ext cx="10515600" cy="548640"/>
          </a:xfrm>
          <a:prstGeom prst="rect">
            <a:avLst/>
          </a:prstGeom>
          <a:noFill/>
          <a:ln/>
        </p:spPr>
        <p:txBody>
          <a:bodyPr wrap="square" lIns="0" tIns="0" rIns="0" bIns="0"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"dept" = 'finance' AND "year" &gt;= '2025' AND "status" = 'archived'</a:t>
            </a:r>
            <a:endParaRPr lang="en-US" sz="1600" dirty="0"/>
          </a:p>
        </p:txBody>
      </p:sp>
      <p:sp>
        <p:nvSpPr>
          <p:cNvPr id="21" name="Text 19"/>
          <p:cNvSpPr/>
          <p:nvPr/>
        </p:nvSpPr>
        <p:spPr>
          <a:xfrm>
            <a:off x="822960" y="5029200"/>
            <a:ext cx="10515600" cy="822960"/>
          </a:xfrm>
          <a:prstGeom prst="rect">
            <a:avLst/>
          </a:prstGeom>
          <a:noFill/>
          <a:ln/>
        </p:spPr>
        <p:txBody>
          <a:bodyPr wrap="square" lIns="0" tIns="0" rIns="0" bIns="0" rtlCol="0" anchor="ctr"/>
          <a:lstStyle/>
          <a:p>
            <a:pPr indent="0" marL="0">
              <a:lnSpc>
                <a:spcPct val="130000"/>
              </a:lnSpc>
              <a:buNone/>
            </a:pPr>
            <a:r>
              <a:rPr lang="en-US" sz="1250" dirty="0">
                <a:solidFill>
                  <a:srgbClr val="CADCFC"/>
                </a:solidFill>
                <a:latin typeface="Calibri" pitchFamily="34" charset="0"/>
                <a:ea typeface="Calibri" pitchFamily="34" charset="-122"/>
                <a:cs typeface="Calibri" pitchFamily="34" charset="-120"/>
              </a:rPr>
              <a:t>This returns every matching blob across the storage account in a single indexed call — the client never lists or walks a container to find them.</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9144000" cy="5486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Bottlenecks to Watch</a:t>
            </a:r>
            <a:endParaRPr lang="en-US" sz="3000" dirty="0"/>
          </a:p>
        </p:txBody>
      </p:sp>
      <p:sp>
        <p:nvSpPr>
          <p:cNvPr id="3" name="Text 1"/>
          <p:cNvSpPr/>
          <p:nvPr/>
        </p:nvSpPr>
        <p:spPr>
          <a:xfrm>
            <a:off x="457200" y="914400"/>
            <a:ext cx="9144000" cy="365760"/>
          </a:xfrm>
          <a:prstGeom prst="rect">
            <a:avLst/>
          </a:prstGeom>
          <a:noFill/>
          <a:ln/>
        </p:spPr>
        <p:txBody>
          <a:bodyPr wrap="square" lIns="0" tIns="0" rIns="0" bIns="0" rtlCol="0" anchor="ctr"/>
          <a:lstStyle/>
          <a:p>
            <a:pPr indent="0" marL="0">
              <a:buNone/>
            </a:pPr>
            <a:r>
              <a:rPr lang="en-US" sz="1400" i="1" dirty="0">
                <a:solidFill>
                  <a:srgbClr val="5C6B7A"/>
                </a:solidFill>
              </a:rPr>
              <a:t>Known constraints that shape the design</a:t>
            </a:r>
            <a:endParaRPr lang="en-US" sz="1400" dirty="0"/>
          </a:p>
        </p:txBody>
      </p:sp>
      <p:sp>
        <p:nvSpPr>
          <p:cNvPr id="4" name="Shape 2"/>
          <p:cNvSpPr/>
          <p:nvPr/>
        </p:nvSpPr>
        <p:spPr>
          <a:xfrm>
            <a:off x="457200" y="1600200"/>
            <a:ext cx="11247120" cy="2057400"/>
          </a:xfrm>
          <a:prstGeom prst="roundRect">
            <a:avLst>
              <a:gd name="adj" fmla="val 3556"/>
            </a:avLst>
          </a:prstGeom>
          <a:solidFill>
            <a:srgbClr val="F2F6F8"/>
          </a:solidFill>
          <a:ln/>
        </p:spPr>
      </p:sp>
      <p:sp>
        <p:nvSpPr>
          <p:cNvPr id="5" name="Shape 3"/>
          <p:cNvSpPr/>
          <p:nvPr/>
        </p:nvSpPr>
        <p:spPr>
          <a:xfrm>
            <a:off x="777240" y="1920240"/>
            <a:ext cx="685800" cy="685800"/>
          </a:xfrm>
          <a:prstGeom prst="ellipse">
            <a:avLst/>
          </a:prstGeom>
          <a:solidFill>
            <a:srgbClr val="065A82"/>
          </a:solidFill>
          <a:ln/>
        </p:spPr>
      </p:sp>
      <p:sp>
        <p:nvSpPr>
          <p:cNvPr id="6" name="Text 4"/>
          <p:cNvSpPr/>
          <p:nvPr/>
        </p:nvSpPr>
        <p:spPr>
          <a:xfrm>
            <a:off x="777240" y="192024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1737360" y="1783080"/>
            <a:ext cx="9692640" cy="45720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Index tag limits constrain the metadata model</a:t>
            </a:r>
            <a:endParaRPr lang="en-US" sz="1700" dirty="0"/>
          </a:p>
        </p:txBody>
      </p:sp>
      <p:sp>
        <p:nvSpPr>
          <p:cNvPr id="8" name="Text 6"/>
          <p:cNvSpPr/>
          <p:nvPr/>
        </p:nvSpPr>
        <p:spPr>
          <a:xfrm>
            <a:off x="1737360" y="2286000"/>
            <a:ext cx="9692640" cy="1188720"/>
          </a:xfrm>
          <a:prstGeom prst="rect">
            <a:avLst/>
          </a:prstGeom>
          <a:noFill/>
          <a:ln/>
        </p:spPr>
        <p:txBody>
          <a:bodyPr wrap="square" lIns="0" tIns="0" rIns="0" bIns="0" rtlCol="0" anchor="ctr"/>
          <a:lstStyle/>
          <a:p>
            <a:pPr indent="0" marL="0">
              <a:lnSpc>
                <a:spcPct val="130000"/>
              </a:lnSpc>
              <a:buNone/>
            </a:pPr>
            <a:r>
              <a:rPr lang="en-US" sz="1300" dirty="0">
                <a:solidFill>
                  <a:srgbClr val="1A2233"/>
                </a:solidFill>
                <a:latin typeface="Calibri" pitchFamily="34" charset="0"/>
                <a:ea typeface="Calibri" pitchFamily="34" charset="-122"/>
                <a:cs typeface="Calibri" pitchFamily="34" charset="-120"/>
              </a:rPr>
              <a:t>Each blob allows a limited number of tags with bounded key/value lengths. A metadata schema that needs more dimensions than tags allow has to be redesigned — e.g. combining fields or moving overflow metadata elsewhere.</a:t>
            </a:r>
            <a:endParaRPr lang="en-US" sz="1300" dirty="0"/>
          </a:p>
        </p:txBody>
      </p:sp>
      <p:sp>
        <p:nvSpPr>
          <p:cNvPr id="9" name="Shape 7"/>
          <p:cNvSpPr/>
          <p:nvPr/>
        </p:nvSpPr>
        <p:spPr>
          <a:xfrm>
            <a:off x="457200" y="3931920"/>
            <a:ext cx="11247120" cy="2057400"/>
          </a:xfrm>
          <a:prstGeom prst="roundRect">
            <a:avLst>
              <a:gd name="adj" fmla="val 3556"/>
            </a:avLst>
          </a:prstGeom>
          <a:solidFill>
            <a:srgbClr val="F2F6F8"/>
          </a:solidFill>
          <a:ln/>
        </p:spPr>
      </p:sp>
      <p:sp>
        <p:nvSpPr>
          <p:cNvPr id="10" name="Shape 8"/>
          <p:cNvSpPr/>
          <p:nvPr/>
        </p:nvSpPr>
        <p:spPr>
          <a:xfrm>
            <a:off x="777240" y="4251960"/>
            <a:ext cx="685800" cy="685800"/>
          </a:xfrm>
          <a:prstGeom prst="ellipse">
            <a:avLst/>
          </a:prstGeom>
          <a:solidFill>
            <a:srgbClr val="1C7293"/>
          </a:solidFill>
          <a:ln/>
        </p:spPr>
      </p:sp>
      <p:sp>
        <p:nvSpPr>
          <p:cNvPr id="11" name="Text 9"/>
          <p:cNvSpPr/>
          <p:nvPr/>
        </p:nvSpPr>
        <p:spPr>
          <a:xfrm>
            <a:off x="777240" y="425196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1737360" y="4114800"/>
            <a:ext cx="9692640" cy="45720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Retrofitting tags onto existing blobs is slow</a:t>
            </a:r>
            <a:endParaRPr lang="en-US" sz="1700" dirty="0"/>
          </a:p>
        </p:txBody>
      </p:sp>
      <p:sp>
        <p:nvSpPr>
          <p:cNvPr id="13" name="Text 11"/>
          <p:cNvSpPr/>
          <p:nvPr/>
        </p:nvSpPr>
        <p:spPr>
          <a:xfrm>
            <a:off x="1737360" y="4617720"/>
            <a:ext cx="9692640" cy="1188720"/>
          </a:xfrm>
          <a:prstGeom prst="rect">
            <a:avLst/>
          </a:prstGeom>
          <a:noFill/>
          <a:ln/>
        </p:spPr>
        <p:txBody>
          <a:bodyPr wrap="square" lIns="0" tIns="0" rIns="0" bIns="0" rtlCol="0" anchor="ctr"/>
          <a:lstStyle/>
          <a:p>
            <a:pPr indent="0" marL="0">
              <a:lnSpc>
                <a:spcPct val="130000"/>
              </a:lnSpc>
              <a:buNone/>
            </a:pPr>
            <a:r>
              <a:rPr lang="en-US" sz="1300" dirty="0">
                <a:solidFill>
                  <a:srgbClr val="1A2233"/>
                </a:solidFill>
                <a:latin typeface="Calibri" pitchFamily="34" charset="0"/>
                <a:ea typeface="Calibri" pitchFamily="34" charset="-122"/>
                <a:cs typeface="Calibri" pitchFamily="34" charset="-120"/>
              </a:rPr>
              <a:t>Tagging blobs after the fact means an API call per blob (or per batch), which is far slower than tagging at upload time. Backfilling a large existing container needs a throttled, resumable batch job.</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457200" y="548640"/>
            <a:ext cx="91440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Team &amp; Scope</a:t>
            </a:r>
            <a:endParaRPr lang="en-US" sz="3000" dirty="0"/>
          </a:p>
        </p:txBody>
      </p:sp>
      <p:sp>
        <p:nvSpPr>
          <p:cNvPr id="3" name="Text 1"/>
          <p:cNvSpPr/>
          <p:nvPr/>
        </p:nvSpPr>
        <p:spPr>
          <a:xfrm>
            <a:off x="457200" y="1051560"/>
            <a:ext cx="9144000" cy="365760"/>
          </a:xfrm>
          <a:prstGeom prst="rect">
            <a:avLst/>
          </a:prstGeom>
          <a:noFill/>
          <a:ln/>
        </p:spPr>
        <p:txBody>
          <a:bodyPr wrap="square" lIns="0" tIns="0" rIns="0" bIns="0" rtlCol="0" anchor="ctr"/>
          <a:lstStyle/>
          <a:p>
            <a:pPr indent="0" marL="0">
              <a:buNone/>
            </a:pPr>
            <a:r>
              <a:rPr lang="en-US" sz="1400" i="1" dirty="0">
                <a:solidFill>
                  <a:srgbClr val="CADCFC"/>
                </a:solidFill>
              </a:rPr>
              <a:t>Storage track · Project 24CC3046-P092</a:t>
            </a:r>
            <a:endParaRPr lang="en-US" sz="1400" dirty="0"/>
          </a:p>
        </p:txBody>
      </p:sp>
      <p:sp>
        <p:nvSpPr>
          <p:cNvPr id="4" name="Shape 2"/>
          <p:cNvSpPr/>
          <p:nvPr/>
        </p:nvSpPr>
        <p:spPr>
          <a:xfrm>
            <a:off x="457200" y="1828800"/>
            <a:ext cx="5349240" cy="2743200"/>
          </a:xfrm>
          <a:prstGeom prst="roundRect">
            <a:avLst>
              <a:gd name="adj" fmla="val 2667"/>
            </a:avLst>
          </a:prstGeom>
          <a:solidFill>
            <a:srgbClr val="065A82"/>
          </a:solidFill>
          <a:ln/>
        </p:spPr>
      </p:sp>
      <p:sp>
        <p:nvSpPr>
          <p:cNvPr id="5" name="Text 3"/>
          <p:cNvSpPr/>
          <p:nvPr/>
        </p:nvSpPr>
        <p:spPr>
          <a:xfrm>
            <a:off x="822960" y="2103120"/>
            <a:ext cx="45720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Team T092</a:t>
            </a:r>
            <a:endParaRPr lang="en-US" sz="2000" dirty="0"/>
          </a:p>
        </p:txBody>
      </p:sp>
      <p:sp>
        <p:nvSpPr>
          <p:cNvPr id="6" name="Text 4"/>
          <p:cNvSpPr/>
          <p:nvPr/>
        </p:nvSpPr>
        <p:spPr>
          <a:xfrm>
            <a:off x="822960" y="2560320"/>
            <a:ext cx="4572000" cy="320040"/>
          </a:xfrm>
          <a:prstGeom prst="rect">
            <a:avLst/>
          </a:prstGeom>
          <a:noFill/>
          <a:ln/>
        </p:spPr>
        <p:txBody>
          <a:bodyPr wrap="square" lIns="0" tIns="0" rIns="0" bIns="0" rtlCol="0" anchor="ctr"/>
          <a:lstStyle/>
          <a:p>
            <a:pPr indent="0" marL="0">
              <a:buNone/>
            </a:pPr>
            <a:r>
              <a:rPr lang="en-US" sz="1250" dirty="0">
                <a:solidFill>
                  <a:srgbClr val="CADCFC"/>
                </a:solidFill>
              </a:rPr>
              <a:t>4 students</a:t>
            </a:r>
            <a:endParaRPr lang="en-US" sz="1250" dirty="0"/>
          </a:p>
        </p:txBody>
      </p:sp>
      <p:sp>
        <p:nvSpPr>
          <p:cNvPr id="7" name="Text 5"/>
          <p:cNvSpPr/>
          <p:nvPr/>
        </p:nvSpPr>
        <p:spPr>
          <a:xfrm>
            <a:off x="822960" y="3017520"/>
            <a:ext cx="4572000" cy="1371600"/>
          </a:xfrm>
          <a:prstGeom prst="rect">
            <a:avLst/>
          </a:prstGeom>
          <a:noFill/>
          <a:ln/>
        </p:spPr>
        <p:txBody>
          <a:bodyPr wrap="square" lIns="0" tIns="0" rIns="0" bIns="0" rtlCol="0" anchor="ctr"/>
          <a:lstStyle/>
          <a:p>
            <a:pPr indent="0" marL="0">
              <a:lnSpc>
                <a:spcPct val="130000"/>
              </a:lnSpc>
              <a:buNone/>
            </a:pPr>
            <a:r>
              <a:rPr lang="en-US" sz="1300" dirty="0">
                <a:solidFill>
                  <a:srgbClr val="E4EEF5"/>
                </a:solidFill>
                <a:latin typeface="Calibri" pitchFamily="34" charset="0"/>
                <a:ea typeface="Calibri" pitchFamily="34" charset="-122"/>
                <a:cs typeface="Calibri" pitchFamily="34" charset="-120"/>
              </a:rPr>
              <a:t>Focus: tagging strategy, schema design within index tag limits, and query pattern benchmarking.</a:t>
            </a:r>
            <a:endParaRPr lang="en-US" sz="1300" dirty="0"/>
          </a:p>
        </p:txBody>
      </p:sp>
      <p:sp>
        <p:nvSpPr>
          <p:cNvPr id="8" name="Shape 6"/>
          <p:cNvSpPr/>
          <p:nvPr/>
        </p:nvSpPr>
        <p:spPr>
          <a:xfrm>
            <a:off x="6080760" y="1828800"/>
            <a:ext cx="5349240" cy="2743200"/>
          </a:xfrm>
          <a:prstGeom prst="roundRect">
            <a:avLst>
              <a:gd name="adj" fmla="val 2667"/>
            </a:avLst>
          </a:prstGeom>
          <a:solidFill>
            <a:srgbClr val="065A82"/>
          </a:solidFill>
          <a:ln/>
        </p:spPr>
      </p:sp>
      <p:sp>
        <p:nvSpPr>
          <p:cNvPr id="9" name="Text 7"/>
          <p:cNvSpPr/>
          <p:nvPr/>
        </p:nvSpPr>
        <p:spPr>
          <a:xfrm>
            <a:off x="6446520" y="2103120"/>
            <a:ext cx="45720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Team T194</a:t>
            </a:r>
            <a:endParaRPr lang="en-US" sz="2000" dirty="0"/>
          </a:p>
        </p:txBody>
      </p:sp>
      <p:sp>
        <p:nvSpPr>
          <p:cNvPr id="10" name="Text 8"/>
          <p:cNvSpPr/>
          <p:nvPr/>
        </p:nvSpPr>
        <p:spPr>
          <a:xfrm>
            <a:off x="6446520" y="2560320"/>
            <a:ext cx="4572000" cy="320040"/>
          </a:xfrm>
          <a:prstGeom prst="rect">
            <a:avLst/>
          </a:prstGeom>
          <a:noFill/>
          <a:ln/>
        </p:spPr>
        <p:txBody>
          <a:bodyPr wrap="square" lIns="0" tIns="0" rIns="0" bIns="0" rtlCol="0" anchor="ctr"/>
          <a:lstStyle/>
          <a:p>
            <a:pPr indent="0" marL="0">
              <a:buNone/>
            </a:pPr>
            <a:r>
              <a:rPr lang="en-US" sz="1250" dirty="0">
                <a:solidFill>
                  <a:srgbClr val="CADCFC"/>
                </a:solidFill>
              </a:rPr>
              <a:t>4 students</a:t>
            </a:r>
            <a:endParaRPr lang="en-US" sz="1250" dirty="0"/>
          </a:p>
        </p:txBody>
      </p:sp>
      <p:sp>
        <p:nvSpPr>
          <p:cNvPr id="11" name="Text 9"/>
          <p:cNvSpPr/>
          <p:nvPr/>
        </p:nvSpPr>
        <p:spPr>
          <a:xfrm>
            <a:off x="6446520" y="3017520"/>
            <a:ext cx="4572000" cy="1371600"/>
          </a:xfrm>
          <a:prstGeom prst="rect">
            <a:avLst/>
          </a:prstGeom>
          <a:noFill/>
          <a:ln/>
        </p:spPr>
        <p:txBody>
          <a:bodyPr wrap="square" lIns="0" tIns="0" rIns="0" bIns="0" rtlCol="0" anchor="ctr"/>
          <a:lstStyle/>
          <a:p>
            <a:pPr indent="0" marL="0">
              <a:lnSpc>
                <a:spcPct val="130000"/>
              </a:lnSpc>
              <a:buNone/>
            </a:pPr>
            <a:r>
              <a:rPr lang="en-US" sz="1300" dirty="0">
                <a:solidFill>
                  <a:srgbClr val="E4EEF5"/>
                </a:solidFill>
                <a:latin typeface="Calibri" pitchFamily="34" charset="0"/>
                <a:ea typeface="Calibri" pitchFamily="34" charset="-122"/>
                <a:cs typeface="Calibri" pitchFamily="34" charset="-120"/>
              </a:rPr>
              <a:t>Focus: large-scale retrofitting pipeline for existing blobs, and performance testing vs. full enumeration.</a:t>
            </a:r>
            <a:endParaRPr lang="en-US" sz="1300" dirty="0"/>
          </a:p>
        </p:txBody>
      </p:sp>
      <p:sp>
        <p:nvSpPr>
          <p:cNvPr id="12" name="Text 10"/>
          <p:cNvSpPr/>
          <p:nvPr/>
        </p:nvSpPr>
        <p:spPr>
          <a:xfrm>
            <a:off x="457200" y="4892040"/>
            <a:ext cx="10972800" cy="457200"/>
          </a:xfrm>
          <a:prstGeom prst="rect">
            <a:avLst/>
          </a:prstGeom>
          <a:noFill/>
          <a:ln/>
        </p:spPr>
        <p:txBody>
          <a:bodyPr wrap="square" lIns="0" tIns="0" rIns="0" bIns="0" rtlCol="0" anchor="ctr"/>
          <a:lstStyle/>
          <a:p>
            <a:pPr algn="ctr" indent="0" marL="0">
              <a:buNone/>
            </a:pPr>
            <a:r>
              <a:rPr lang="en-US" sz="1400" i="1" dirty="0">
                <a:solidFill>
                  <a:srgbClr val="CADCFC"/>
                </a:solidFill>
              </a:rPr>
              <a:t>8 students · 2 teams · 1 shared goal: prove metadata-first discovery at scale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2026-09-23T03:01:39Z</dcterms:created>
  <dcterms:modified xsi:type="dcterms:W3CDTF">2026-09-23T03:01:39Z</dcterms:modified>
</cp:coreProperties>
</file>